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ARR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0.4032</c:v>
                </c:pt>
                <c:pt idx="1">
                  <c:v>1.2252</c:v>
                </c:pt>
                <c:pt idx="2">
                  <c:v>0.564</c:v>
                </c:pt>
                <c:pt idx="3">
                  <c:v>1.1412</c:v>
                </c:pt>
                <c:pt idx="4">
                  <c:v>0.8568</c:v>
                </c:pt>
                <c:pt idx="5">
                  <c:v>1.1268</c:v>
                </c:pt>
                <c:pt idx="6">
                  <c:v>0.642</c:v>
                </c:pt>
                <c:pt idx="7">
                  <c:v>0.9384</c:v>
                </c:pt>
                <c:pt idx="8">
                  <c:v>1.1544</c:v>
                </c:pt>
                <c:pt idx="9">
                  <c:v>1.2204</c:v>
                </c:pt>
                <c:pt idx="10">
                  <c:v>1.6104</c:v>
                </c:pt>
                <c:pt idx="11">
                  <c:v>0.5076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Expansion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0.1032</c:v>
                </c:pt>
                <c:pt idx="1">
                  <c:v>0.018</c:v>
                </c:pt>
                <c:pt idx="2">
                  <c:v>0.0444</c:v>
                </c:pt>
                <c:pt idx="3">
                  <c:v>0.1704</c:v>
                </c:pt>
                <c:pt idx="4">
                  <c:v>0.1404</c:v>
                </c:pt>
                <c:pt idx="5">
                  <c:v>0.192</c:v>
                </c:pt>
                <c:pt idx="6">
                  <c:v>0.0408</c:v>
                </c:pt>
                <c:pt idx="7">
                  <c:v>0.0528</c:v>
                </c:pt>
                <c:pt idx="8">
                  <c:v>0.0396</c:v>
                </c:pt>
                <c:pt idx="9">
                  <c:v>0.084</c:v>
                </c:pt>
                <c:pt idx="10">
                  <c:v>0.1176</c:v>
                </c:pt>
                <c:pt idx="11">
                  <c:v>0.0516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Churn &amp; contraction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-0.5196</c:v>
                </c:pt>
                <c:pt idx="1">
                  <c:v>-2.1456</c:v>
                </c:pt>
                <c:pt idx="2">
                  <c:v>-1.0548</c:v>
                </c:pt>
                <c:pt idx="3">
                  <c:v>-0.2496</c:v>
                </c:pt>
                <c:pt idx="4">
                  <c:v>-1.1676</c:v>
                </c:pt>
                <c:pt idx="5">
                  <c:v>-0.2616</c:v>
                </c:pt>
                <c:pt idx="6">
                  <c:v>-0.3864</c:v>
                </c:pt>
                <c:pt idx="7">
                  <c:v>-1.0152</c:v>
                </c:pt>
                <c:pt idx="8">
                  <c:v>-0.294</c:v>
                </c:pt>
                <c:pt idx="9">
                  <c:v>-1.1928</c:v>
                </c:pt>
                <c:pt idx="10">
                  <c:v>-0.3</c:v>
                </c:pt>
                <c:pt idx="11">
                  <c:v>-0.2004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-222.45884999999998</c:v>
                </c:pt>
                <c:pt idx="1">
                  <c:v>-150.53048</c:v>
                </c:pt>
                <c:pt idx="2">
                  <c:v>-81.01028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Price / mix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22.246040000000328</c:v>
                </c:pt>
                <c:pt idx="1">
                  <c:v>-7.52640000000014</c:v>
                </c:pt>
                <c:pt idx="2">
                  <c:v>2.5114999999997965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4.058888233333333</c:v>
                </c:pt>
                <c:pt idx="1">
                  <c:v>4.106582668150001</c:v>
                </c:pt>
                <c:pt idx="2">
                  <c:v>4.172873339140358</c:v>
                </c:pt>
                <c:pt idx="3">
                  <c:v>4.235179204102612</c:v>
                </c:pt>
                <c:pt idx="4">
                  <c:v>4.266640330942612</c:v>
                </c:pt>
                <c:pt idx="5">
                  <c:v>4.306837668791485</c:v>
                </c:pt>
                <c:pt idx="6">
                  <c:v>4.3767867656110075</c:v>
                </c:pt>
                <c:pt idx="7">
                  <c:v>4.431993568301202</c:v>
                </c:pt>
                <c:pt idx="8">
                  <c:v>4.518972526773911</c:v>
                </c:pt>
                <c:pt idx="9">
                  <c:v>4.608121226183214</c:v>
                </c:pt>
                <c:pt idx="10">
                  <c:v>4.653384834046357</c:v>
                </c:pt>
                <c:pt idx="11">
                  <c:v>4.7701088326250565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4.080869573333333</c:v>
                </c:pt>
                <c:pt idx="1">
                  <c:v>4.171476874050667</c:v>
                </c:pt>
                <c:pt idx="2">
                  <c:v>4.286065128197354</c:v>
                </c:pt>
                <c:pt idx="3">
                  <c:v>4.396027086248644</c:v>
                </c:pt>
                <c:pt idx="4">
                  <c:v>4.467148578537687</c:v>
                </c:pt>
                <c:pt idx="5">
                  <c:v>4.549585144817002</c:v>
                </c:pt>
                <c:pt idx="6">
                  <c:v>4.670145934853334</c:v>
                </c:pt>
                <c:pt idx="7">
                  <c:v>4.772413970178633</c:v>
                </c:pt>
                <c:pt idx="8">
                  <c:v>4.915483964272139</c:v>
                </c:pt>
                <c:pt idx="9">
                  <c:v>5.061906237037626</c:v>
                </c:pt>
                <c:pt idx="10">
                  <c:v>5.153080479757627</c:v>
                </c:pt>
                <c:pt idx="11">
                  <c:v>5.335496707325845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4.029230786666667</c:v>
                </c:pt>
                <c:pt idx="1">
                  <c:v>4.019167095376</c:v>
                </c:pt>
                <c:pt idx="2">
                  <c:v>4.022318872192952</c:v>
                </c:pt>
                <c:pt idx="3">
                  <c:v>4.022967308668952</c:v>
                </c:pt>
                <c:pt idx="4">
                  <c:v>4.002574788910518</c:v>
                </c:pt>
                <c:pt idx="5">
                  <c:v>3.9886694521190784</c:v>
                </c:pt>
                <c:pt idx="6">
                  <c:v>3.995711759780202</c:v>
                </c:pt>
                <c:pt idx="7">
                  <c:v>3.9927755743648765</c:v>
                </c:pt>
                <c:pt idx="8">
                  <c:v>4.012083618967863</c:v>
                </c:pt>
                <c:pt idx="9">
                  <c:v>4.032987889626219</c:v>
                </c:pt>
                <c:pt idx="10">
                  <c:v>4.0236541653705675</c:v>
                </c:pt>
                <c:pt idx="11">
                  <c:v>4.064038222056935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case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Sheet1!$A$2:$A$5</c:f>
              <c:strCache>
                <c:ptCount val="4"/>
                <c:pt idx="0">
                  <c:v>Churn rate</c:v>
                </c:pt>
                <c:pt idx="1">
                  <c:v>Hiring pace</c:v>
                </c:pt>
                <c:pt idx="2">
                  <c:v>Pipeline conversion</c:v>
                </c:pt>
                <c:pt idx="3">
                  <c:v>Gross margin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6.673852643621988</c:v>
                </c:pt>
                <c:pt idx="1">
                  <c:v>6.673852643621988</c:v>
                </c:pt>
                <c:pt idx="2">
                  <c:v>6.673852643621988</c:v>
                </c:pt>
                <c:pt idx="3">
                  <c:v>5.473852643621988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case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Sheet1!$A$2:$A$5</c:f>
              <c:strCache>
                <c:ptCount val="4"/>
                <c:pt idx="0">
                  <c:v>Churn rate</c:v>
                </c:pt>
                <c:pt idx="1">
                  <c:v>Hiring pace</c:v>
                </c:pt>
                <c:pt idx="2">
                  <c:v>Pipeline conversion</c:v>
                </c:pt>
                <c:pt idx="3">
                  <c:v>Gross margin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6.673852643621988</c:v>
                </c:pt>
                <c:pt idx="1">
                  <c:v>6.673852643621988</c:v>
                </c:pt>
                <c:pt idx="2">
                  <c:v>6.673852643621988</c:v>
                </c:pt>
                <c:pt idx="3">
                  <c:v>7.673852643621988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 variance ($K)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Sheet1!$A$2:$A$6</c:f>
              <c:strCache>
                <c:ptCount val="5"/>
                <c:pt idx="0">
                  <c:v>Sales</c:v>
                </c:pt>
                <c:pt idx="1">
                  <c:v>Customer Success</c:v>
                </c:pt>
                <c:pt idx="2">
                  <c:v>Marketing</c:v>
                </c:pt>
                <c:pt idx="3">
                  <c:v>Product &amp; Eng.</c:v>
                </c:pt>
                <c:pt idx="4">
                  <c:v>G&amp;A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-454.337</c:v>
                </c:pt>
                <c:pt idx="1">
                  <c:v>135.895</c:v>
                </c:pt>
                <c:pt idx="2">
                  <c:v>-549.881</c:v>
                </c:pt>
                <c:pt idx="3">
                  <c:v>-268.722</c:v>
                </c:pt>
                <c:pt idx="4">
                  <c:v>266.518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6A6"/>
                </a:solidFill>
              </a:defRPr>
            </a:pPr>
            <a:r>
              <a:t>Q3 2026 BOARD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4980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Growth remains intact.</a:t>
            </a:r>
            <a:br/>
            <a:r>
              <a:t>Efficiency now needs a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A6A6"/>
                </a:solidFill>
              </a:defRPr>
            </a:pPr>
            <a:r>
              <a:t>$52.5M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8"/>
                </a:solidFill>
              </a:defRPr>
            </a:pPr>
            <a:r>
              <a:t>FY2026 Base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70AD47"/>
                </a:solidFill>
              </a:defRPr>
            </a:pPr>
            <a:r>
              <a:t>$58.3M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8"/>
                </a:solidFill>
              </a:defRPr>
            </a:pPr>
            <a:r>
              <a:t>Ending 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B183"/>
                </a:solidFill>
              </a:defRPr>
            </a:pPr>
            <a:r>
              <a:t>12.3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8"/>
                </a:solidFill>
              </a:defRPr>
            </a:pPr>
            <a:r>
              <a:t>Ending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Q3 revenue missed budget by $0.4M; Sales and Marketing spend is ahead of plan. Hold incremental GTM hiring until conversion improves.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A6"/>
                </a:solidFill>
              </a:defRPr>
            </a:pPr>
            <a:r>
              <a:t>ARR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ARR reaches $58.3M, but growth depends on pipeline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9436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71323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40.0M opening 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5623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The source ledger is calibrated to the stated company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834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Retention is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8211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Dec NRR is 99.7%; expansion broadly offsets churn.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60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Pipeline is the swing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50799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Base realizes 55% of stage-weighted pipeline after probability weighting.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A6"/>
                </a:solidFill>
              </a:defRPr>
            </a:pPr>
            <a:r>
              <a:t>BUDGET VS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Q3 miss is volume-led; GTM spend has not yet adjusted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9436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71323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$437K Q3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5623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July and August account for most of the shortfall.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834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$871K FY opex overrun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8211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Marketing and Sales lead the unfavorable variance.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60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50799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Pricing is resilient; close volume and timing remain the issue.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A6"/>
                </a:solidFill>
              </a:defRPr>
            </a:pPr>
            <a:r>
              <a:t>SAAS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Retention is healthy; efficiency is just below the Rule of 40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9436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70AD47"/>
                </a:solidFill>
              </a:defRPr>
            </a:pPr>
            <a:r>
              <a:t>99.7%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8"/>
                </a:solidFill>
              </a:defRPr>
            </a:pPr>
            <a:r>
              <a:t>December NRR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70AD47"/>
                </a:solidFill>
              </a:defRPr>
            </a:pPr>
            <a:r>
              <a:t>99.6%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8"/>
                </a:solidFill>
              </a:defRPr>
            </a:pPr>
            <a:r>
              <a:t>December GRR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A6A6"/>
                </a:solidFill>
              </a:defRPr>
            </a:pPr>
            <a:r>
              <a:t>24.8x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8"/>
                </a:solidFill>
              </a:defRPr>
            </a:pPr>
            <a:r>
              <a:t>LTV : 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B183"/>
                </a:solidFill>
              </a:defRPr>
            </a:pPr>
            <a:r>
              <a:t>38.8%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8"/>
                </a:solidFill>
              </a:defRPr>
            </a:pPr>
            <a:r>
              <a:t>Rule of 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324D"/>
                </a:solidFill>
              </a:defRPr>
            </a:pPr>
            <a:r>
              <a:t>The model points to a growth-efficiency tradeoff: retention is not the immediate constraint, but the company must improve new-logo conversion before adding GTM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6A6"/>
                </a:solidFill>
              </a:defRPr>
            </a:pPr>
            <a:r>
              <a:t>Management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B6978"/>
                </a:solidFill>
              </a:defRPr>
            </a:pPr>
            <a:r>
              <a:t>Release incremental hiring only after two consecutive months of improved conversion and shorter sales cycles.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A6"/>
                </a:solidFill>
              </a:defRPr>
            </a:pPr>
            <a:r>
              <a:t>FY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The FY revenue range is $48.2M-$55.9M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9436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Base | $52.5M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76479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1.1% churn, 0.55x pipeline factor, approved hiring 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Upside | $55.9M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309067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Lower churn, faster cycles, 0.70x pipeline realization.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Downside | $48.2M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41655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Higher churn, slower cycles, 0.38x pipeline realization.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A6"/>
                </a:solidFill>
              </a:defRPr>
            </a:pPr>
            <a:r>
              <a:t>CASH &amp;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Base runway is 12.3 months; hiring pace is the controllable lever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9436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7223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Ending cash | $6.7M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5623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Base case retains limited cushion.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834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Downside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8211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Move to 0.82x hiring if conversion and churn both miss.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60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Circularity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50799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Interest uses beginning cash; no iterative calculation is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A6"/>
                </a:solidFill>
              </a:defRPr>
            </a:pPr>
            <a:r>
              <a:t>DEPARTMENT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Marketing and Sales account for the FY opex overrun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9436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4173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Marketing | +$550K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5623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Events and demand generation exceeded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834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Sales | +$454K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8211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Hiring and commissions ran ahead of conversion.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60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324D"/>
                </a:solidFill>
              </a:defRPr>
            </a:pPr>
            <a:r>
              <a:t>Offsets | -$402K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50799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978"/>
                </a:solidFill>
              </a:defRPr>
            </a:pPr>
            <a:r>
              <a:t>Customer Success and G&amp;A discipline reduced the net overrun.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A6"/>
                </a:solidFill>
              </a:defRPr>
            </a:pPr>
            <a:r>
              <a:t>RISKS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24D"/>
                </a:solidFill>
              </a:defRPr>
            </a:pPr>
            <a:r>
              <a:t>Protect the growth option without pre-funding unproven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59436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A6A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Gate GTM hiring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630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B6978"/>
                </a:solidFill>
              </a:defRPr>
            </a:pPr>
            <a:r>
              <a:t>Require two months of conversion and cycle improvement before releasing roles.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A6A6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803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Reallocate $300K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803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B6978"/>
                </a:solidFill>
              </a:defRPr>
            </a:pPr>
            <a:r>
              <a:t>Shift low-attribution event spend toward partner and expansion programs.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A6A6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297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7324D"/>
                </a:solidFill>
              </a:defRPr>
            </a:pPr>
            <a:r>
              <a:t>Operationalize downside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9768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B6978"/>
                </a:solidFill>
              </a:defRPr>
            </a:pPr>
            <a:r>
              <a:t>Review churn, conversion, DSO, and ending cash monthly; move to 0.82x hiring when two miss.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6A6"/>
                </a:solidFill>
              </a:defRPr>
            </a:pPr>
            <a:r>
              <a:t>BOARD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5778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Approve the Base case with a conditional GTM hiring gate and monthly downside trigger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105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978"/>
                </a:solidFill>
              </a:defRPr>
            </a:pPr>
            <a:r>
              <a:t>NORTHSTAR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